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5b363b5eb04f01" /><Relationship Type="http://schemas.openxmlformats.org/officeDocument/2006/relationships/extended-properties" Target="/docProps/app.xml" Id="Rae1ebfc49644423f" /><Relationship Type="http://schemas.openxmlformats.org/officeDocument/2006/relationships/officeDocument" Target="/ppt/presentation.xml" Id="Rb9afbff0dae241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abd36b4e824b46"/>
  </p:sldMasterIdLst>
  <p:notesMasterIdLst>
    <p:notesMasterId xmlns:r="http://schemas.openxmlformats.org/officeDocument/2006/relationships" r:id="Rbe05f4bfe87843fc"/>
  </p:notesMasterIdLst>
  <p:sldIdLst>
    <p:sldId xmlns:r="http://schemas.openxmlformats.org/officeDocument/2006/relationships" id="256" r:id="R442a1457364b4c8b"/>
    <p:sldId xmlns:r="http://schemas.openxmlformats.org/officeDocument/2006/relationships" id="257" r:id="R835bdde31bf042ad"/>
    <p:sldId xmlns:r="http://schemas.openxmlformats.org/officeDocument/2006/relationships" id="258" r:id="Reb6a9add3ffc4d93"/>
    <p:sldId xmlns:r="http://schemas.openxmlformats.org/officeDocument/2006/relationships" id="259" r:id="Rf585d0a789d5465c"/>
    <p:sldId xmlns:r="http://schemas.openxmlformats.org/officeDocument/2006/relationships" id="260" r:id="R0910caffc9e64e2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5dbae89b094311" /><Relationship Type="http://schemas.openxmlformats.org/officeDocument/2006/relationships/slideMaster" Target="/ppt/slideMasters/slideMaster1.xml" Id="Rf6abd36b4e824b46" /><Relationship Type="http://schemas.openxmlformats.org/officeDocument/2006/relationships/notesMaster" Target="/ppt/notesMasters/notesMaster1.xml" Id="Rbe05f4bfe87843fc" /><Relationship Type="http://schemas.openxmlformats.org/officeDocument/2006/relationships/presProps" Target="/ppt/presProps.xml" Id="Rdb25f2449d9b412c" /><Relationship Type="http://schemas.openxmlformats.org/officeDocument/2006/relationships/tableStyles" Target="/ppt/tableStyles.xml" Id="Rd7bdb292e5b246ed" /><Relationship Type="http://schemas.openxmlformats.org/officeDocument/2006/relationships/slide" Target="/ppt/slides/slide1.xml" Id="R442a1457364b4c8b" /><Relationship Type="http://schemas.openxmlformats.org/officeDocument/2006/relationships/slide" Target="/ppt/slides/slide2.xml" Id="R835bdde31bf042ad" /><Relationship Type="http://schemas.openxmlformats.org/officeDocument/2006/relationships/slide" Target="/ppt/slides/slide3.xml" Id="Reb6a9add3ffc4d93" /><Relationship Type="http://schemas.openxmlformats.org/officeDocument/2006/relationships/slide" Target="/ppt/slides/slide4.xml" Id="Rf585d0a789d5465c" /><Relationship Type="http://schemas.openxmlformats.org/officeDocument/2006/relationships/slide" Target="/ppt/slides/slide5.xml" Id="R0910caffc9e64e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04e928709941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1bfeb1fbb04788" /><Relationship Type="http://schemas.openxmlformats.org/officeDocument/2006/relationships/notesMaster" Target="/ppt/notesMasters/notesMaster1.xml" Id="R8c6ad111202340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570dd15c4040d8" /><Relationship Type="http://schemas.openxmlformats.org/officeDocument/2006/relationships/notesMaster" Target="/ppt/notesMasters/notesMaster1.xml" Id="Raa524ab46b054e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51046dee9c4d41" /><Relationship Type="http://schemas.openxmlformats.org/officeDocument/2006/relationships/notesMaster" Target="/ppt/notesMasters/notesMaster1.xml" Id="R50b3394cacee44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b7e43e0c4e489c" /><Relationship Type="http://schemas.openxmlformats.org/officeDocument/2006/relationships/notesMaster" Target="/ppt/notesMasters/notesMaster1.xml" Id="R621939371dbc40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227a2343184e4d" /><Relationship Type="http://schemas.openxmlformats.org/officeDocument/2006/relationships/notesMaster" Target="/ppt/notesMasters/notesMaster1.xml" Id="R93cb60cbb35743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Supabase: https://supabase.com/pricing</a:t>
            </a:r>
          </a:p>
          <a:p xmlns:a="http://schemas.openxmlformats.org/drawingml/2006/main">
            <a:r>
              <a:t>Cloudflare Pages: https://developers.cloudflare.com/pages/functions/pricing/</a:t>
            </a:r>
          </a:p>
          <a:p xmlns:a="http://schemas.openxmlformats.org/drawingml/2006/main">
            <a:r>
              <a:t>Valores de influenciadores são premissas do modelo.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Registro.br: https://registro.br/dominio/regras/</a:t>
            </a:r>
          </a:p>
          <a:p xmlns:a="http://schemas.openxmlformats.org/drawingml/2006/main">
            <a:r>
              <a:t>Supabase Free: https://supabase.com/pricing</a:t>
            </a:r>
          </a:p>
          <a:p xmlns:a="http://schemas.openxmlformats.org/drawingml/2006/main">
            <a:r>
              <a:t>Cloudflare Pages Free: https://developers.cloudflare.com/pages/functions/pricing/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Premissas do modelo: 25 mil visualizações por criador, CTR 1,5%, conversão 3%, ticket médio R$ 400 e comissão média 7%. Comissão de referência: https://associados.amazon.com.br/help/node/topic/GRXPHT8U84RAYDXZ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Premissas internas do modelo. Comissão automotiva de referência: https://associados.amazon.com.br/help/node/topic/GRXPHT8U84RAYDXZ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Orientação de fluxo de caixa e reserva: https://meuatendimento.sebrae.com.br/sites/PortalSebrae/artigos/fluxo-de-caixa-o-que-e-e-como-implantar%2Cb29e438af1c92410VgnVCM100000b272010aRCRD</a:t>
            </a:r>
          </a:p>
          <a:p xmlns:a="http://schemas.openxmlformats.org/drawingml/2006/main">
            <a:r>
              <a:t>Distribuição de lucros: https://normas.receita.fazenda.gov.br/sijut2consulta/link.action?idAto=134391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ca3a5d11064c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bbfffe96904b8f" /><Relationship Type="http://schemas.openxmlformats.org/officeDocument/2006/relationships/slideLayout" Target="/ppt/slideLayouts/slideLayout1.xml" Id="R4fd150b590ff40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d150b590ff40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7e9d4bffb04ca7" /><Relationship Type="http://schemas.openxmlformats.org/officeDocument/2006/relationships/notesSlide" Target="/ppt/notesSlides/notesSlide1.xml" Id="R723aca77fd2048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321686e5a742f6" /><Relationship Type="http://schemas.openxmlformats.org/officeDocument/2006/relationships/notesSlide" Target="/ppt/notesSlides/notesSlide2.xml" Id="Rde94167ccc9343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d2faa64be948bc" /><Relationship Type="http://schemas.openxmlformats.org/officeDocument/2006/relationships/notesSlide" Target="/ppt/notesSlides/notesSlide3.xml" Id="R3d7473cab61a4b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fb3e46f0014f43" /><Relationship Type="http://schemas.openxmlformats.org/officeDocument/2006/relationships/chart" Target="/ppt/slides/charts/chart1.xml" Id="R9fcf3c60c1ad4feb" /><Relationship Type="http://schemas.openxmlformats.org/officeDocument/2006/relationships/notesSlide" Target="/ppt/notesSlides/notesSlide4.xml" Id="R9ffd22728f7048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06a48052c54b17" /><Relationship Type="http://schemas.openxmlformats.org/officeDocument/2006/relationships/notesSlide" Target="/ppt/notesSlides/notesSlide5.xml" Id="Re0897b133e394eb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Receita anual (R$ mil)</c:v>
          </c:tx>
          <c:spPr>
            <a:solidFill xmlns:a="http://schemas.openxmlformats.org/drawingml/2006/main">
              <a:srgbClr val="D2B886"/>
            </a:solidFill>
          </c:spPr>
          <c:cat>
            <c:strLit>
              <c:ptCount val="3"/>
              <c:pt idx="0">
                <c:v>Afiliados</c:v>
              </c:pt>
              <c:pt idx="1">
                <c:v>Fornecedores</c:v>
              </c:pt>
              <c:pt idx="2">
                <c:v>Premium</c:v>
              </c:pt>
            </c:strLit>
          </c:cat>
          <c:val>
            <c:numLit>
              <c:formatCode>General</c:formatCode>
              <c:ptCount val="3"/>
              <c:pt idx="0">
                <c:v>96</c:v>
              </c:pt>
              <c:pt idx="1">
                <c:v>72</c:v>
              </c:pt>
              <c:pt idx="2">
                <c:v>48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7141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majorGridlines>
          <c:spPr>
            <a:ln xmlns:a="http://schemas.openxmlformats.org/drawingml/2006/main" w="9525">
              <a:solidFill>
                <a:srgbClr val="E6E0D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56D65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B86AF4-FD3C-43AC-A0ED-63C68F29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2B8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2B886"/>
                </a:solidFill>
                <a:latin typeface="Helvetica Neue"/>
                <a:ea typeface="Helvetica Neue"/>
                <a:cs typeface="Helvetica Neue"/>
              </a:rPr>
              <a:t>MODLAB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61A00D-9F69-465A-9AEC-96DCE942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5524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14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71411"/>
                </a:solidFill>
                <a:latin typeface="Helvetica Neue"/>
                <a:ea typeface="Helvetica Neue"/>
                <a:cs typeface="Helvetica Neue"/>
              </a:rPr>
              <a:t>Plano financeiro</a:t>
            </a:r>
          </a:p>
          <a:p xmlns:a="http://schemas.openxmlformats.org/drawingml/2006/main">
            <a:pPr algn="l">
              <a:defRPr sz="4350" b="1">
                <a:solidFill>
                  <a:srgbClr val="1714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71411"/>
                </a:solidFill>
                <a:latin typeface="Helvetica Neue"/>
                <a:ea typeface="Helvetica Neue"/>
                <a:cs typeface="Helvetica Neue"/>
              </a:rPr>
              <a:t>para lançar enxuto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737DE2-9A09-4F90-BAA6-A9E5DAF5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56D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756D65"/>
                </a:solidFill>
                <a:latin typeface="Helvetica Neue"/>
                <a:ea typeface="Helvetica Neue"/>
                <a:cs typeface="Helvetica Neue"/>
              </a:rPr>
              <a:t>MVP com Supabase Free, Cloudflare Pages e microinfluenciadores para validar receita antes de escalar custos.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EFEA6D-520D-48D8-A54E-0A504C40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66750"/>
            <a:ext cx="4762500" cy="5429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37312B"/>
          </a:solidFill>
          <a:ln xmlns:a="http://schemas.openxmlformats.org/drawingml/2006/main" w="0">
            <a:solidFill>
              <a:srgbClr val="37312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5CDB82-5E6F-4EAA-8E33-7165C1AC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00250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R$ 1.070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6A3A43-8150-4D04-A078-865D6C88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956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1E9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1E9DD"/>
                </a:solidFill>
                <a:latin typeface="Helvetica Neue"/>
                <a:ea typeface="Helvetica Neue"/>
                <a:cs typeface="Helvetica Neue"/>
              </a:rPr>
              <a:t>investimento estimado no primeiro mês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EC4B28-3BD1-4255-9AF5-08B01A5B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9100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5CC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D5CCC2"/>
                </a:solidFill>
                <a:latin typeface="Helvetica Neue"/>
                <a:ea typeface="Helvetica Neue"/>
                <a:cs typeface="Helvetica Neue"/>
              </a:rPr>
              <a:t>A proposta: limitar o custo fixo, testar criadores com links rastreáveis e crescer apenas com retorno comprovado.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58D176-B834-4E07-8D7F-F6408835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389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56D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56D65"/>
                </a:solidFill>
                <a:latin typeface="Helvetica Neue"/>
                <a:ea typeface="Helvetica Neue"/>
                <a:cs typeface="Helvetica Neue"/>
              </a:rPr>
              <a:t>MODLAB  ·  01</a:t>
            </a:r>
          </a:p>
        </p:txBody>
      </p:sp>
    </p:spTree>
    <p:extLst>
      <p:ext uri="{BB962C8B-B14F-4D97-AF65-F5344CB8AC3E}">
        <p14:creationId xmlns:p14="http://schemas.microsoft.com/office/powerpoint/2010/main" val="6777468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3EAD63-06C5-42B4-A6AB-E6201E4A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4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1411"/>
                </a:solidFill>
                <a:latin typeface="Helvetica Neue"/>
                <a:ea typeface="Helvetica Neue"/>
                <a:cs typeface="Helvetica Neue"/>
              </a:rPr>
              <a:t>A operação pode começar com custo fixo baixo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CE172-DCC1-4B92-88B1-2452DA1B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7239000" cy="514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7312B"/>
          </a:solidFill>
          <a:ln xmlns:a="http://schemas.openxmlformats.org/drawingml/2006/main" w="0">
            <a:solidFill>
              <a:srgbClr val="3731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9EBDF-9057-4C15-A7D7-E6A8E17C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Gasto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91D99C-AEFA-4EB3-A29B-7E6E1F25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240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Base enxuta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3BB50E-C924-4258-8905-BE70CBCB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5475"/>
            <a:ext cx="7239000" cy="5810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F3ED"/>
          </a:solidFill>
          <a:ln xmlns:a="http://schemas.openxmlformats.org/drawingml/2006/main" w="0">
            <a:solidFill>
              <a:srgbClr val="F7F3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23AF1D-1F46-4774-A4B8-89214439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478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4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1411"/>
                </a:solidFill>
                <a:latin typeface="Helvetica Neue"/>
                <a:ea typeface="Helvetica Neue"/>
                <a:cs typeface="Helvetica Neue"/>
              </a:rPr>
              <a:t>Domínio .com.br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37DA36-D118-423B-B7F3-7ED0B6DD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4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714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1411"/>
                </a:solidFill>
                <a:latin typeface="Helvetica Neue"/>
                <a:ea typeface="Helvetica Neue"/>
                <a:cs typeface="Helvetica Neue"/>
              </a:rPr>
              <a:t>R$ 40/ano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4F19AA-433F-4F28-84AE-FD6FDB0C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95550"/>
            <a:ext cx="7239000" cy="5810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BE4C40-0000-46D0-A8E6-97D53BB3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4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1411"/>
                </a:solidFill>
                <a:latin typeface="Helvetica Neue"/>
                <a:ea typeface="Helvetica Neue"/>
                <a:cs typeface="Helvetica Neue"/>
              </a:rPr>
              <a:t>Cloudflare Pages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1CAFCE-9E44-4362-BAC3-33C1F293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479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714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1411"/>
                </a:solidFill>
                <a:latin typeface="Helvetica Neue"/>
                <a:ea typeface="Helvetica Neue"/>
                <a:cs typeface="Helvetica Neue"/>
              </a:rPr>
              <a:t>R$ 0/mês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DB1E0A-E6EB-4566-BD19-4189C3D0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95625"/>
            <a:ext cx="7239000" cy="5810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F3ED"/>
          </a:solidFill>
          <a:ln xmlns:a="http://schemas.openxmlformats.org/drawingml/2006/main" w="0">
            <a:solidFill>
              <a:srgbClr val="F7F3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71140C-E1B5-47B1-9D76-477B1B8E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480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4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1411"/>
                </a:solidFill>
                <a:latin typeface="Helvetica Neue"/>
                <a:ea typeface="Helvetica Neue"/>
                <a:cs typeface="Helvetica Neue"/>
              </a:rPr>
              <a:t>Supabase Free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48BB98-6D5E-47F6-AC26-D1E2B742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480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714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1411"/>
                </a:solidFill>
                <a:latin typeface="Helvetica Neue"/>
                <a:ea typeface="Helvetica Neue"/>
                <a:cs typeface="Helvetica Neue"/>
              </a:rPr>
              <a:t>R$ 0/mês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44A203-3755-473E-8285-65F3CA72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7239000" cy="5810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B0CC03-BD62-4254-AB04-9EA1A4DA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4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1411"/>
                </a:solidFill>
                <a:latin typeface="Helvetica Neue"/>
                <a:ea typeface="Helvetica Neue"/>
                <a:cs typeface="Helvetica Neue"/>
              </a:rPr>
              <a:t>Créditos de IA + reserva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E5FE30-7ECE-49A2-8467-F1179D63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714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1411"/>
                </a:solidFill>
                <a:latin typeface="Helvetica Neue"/>
                <a:ea typeface="Helvetica Neue"/>
                <a:cs typeface="Helvetica Neue"/>
              </a:rPr>
              <a:t>R$ 150/mês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2941E3-9821-43FF-AAA0-28195A9D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95775"/>
            <a:ext cx="7239000" cy="5810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F3ED"/>
          </a:solidFill>
          <a:ln xmlns:a="http://schemas.openxmlformats.org/drawingml/2006/main" w="0">
            <a:solidFill>
              <a:srgbClr val="F7F3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015BF0-6BFC-4E96-B9ED-A9CC62C7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481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4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1411"/>
                </a:solidFill>
                <a:latin typeface="Helvetica Neue"/>
                <a:ea typeface="Helvetica Neue"/>
                <a:cs typeface="Helvetica Neue"/>
              </a:rPr>
              <a:t>Influenciadores piloto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089AC0-C829-4B79-A986-9E819CC0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481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714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1411"/>
                </a:solidFill>
                <a:latin typeface="Helvetica Neue"/>
                <a:ea typeface="Helvetica Neue"/>
                <a:cs typeface="Helvetica Neue"/>
              </a:rPr>
              <a:t>R$ 900/mês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852CA8-1722-4C0B-ACF7-719BDAAD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81125"/>
            <a:ext cx="3238500" cy="38290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EE8E0"/>
          </a:solidFill>
          <a:ln xmlns:a="http://schemas.openxmlformats.org/drawingml/2006/main" w="0">
            <a:solidFill>
              <a:srgbClr val="EEE8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B332B0-DDEA-4B97-9EEB-17045FBD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4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1411"/>
                </a:solidFill>
                <a:latin typeface="Helvetica Neue"/>
                <a:ea typeface="Helvetica Neue"/>
                <a:cs typeface="Helvetica Neue"/>
              </a:rPr>
              <a:t>Por que este modelo?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1D14BB-591D-473E-89BA-7F8E7C64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05050"/>
            <a:ext cx="2428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3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7312B"/>
                </a:solidFill>
                <a:latin typeface="Helvetica Neue"/>
                <a:ea typeface="Helvetica Neue"/>
                <a:cs typeface="Helvetica Neue"/>
              </a:rPr>
              <a:t>• Sem servidor próprio</a:t>
            </a:r>
          </a:p>
          <a:p xmlns:a="http://schemas.openxmlformats.org/drawingml/2006/main">
            <a:pPr algn="l">
              <a:defRPr sz="1500" b="0">
                <a:solidFill>
                  <a:srgbClr val="373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7312B"/>
                </a:solidFill>
                <a:latin typeface="Helvetica Neue"/>
                <a:ea typeface="Helvetica Neue"/>
                <a:cs typeface="Helvetica Neue"/>
              </a:rPr>
              <a:t>• Sem banco pago no MVP</a:t>
            </a:r>
          </a:p>
          <a:p xmlns:a="http://schemas.openxmlformats.org/drawingml/2006/main">
            <a:pPr algn="l">
              <a:defRPr sz="1500" b="0">
                <a:solidFill>
                  <a:srgbClr val="373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7312B"/>
                </a:solidFill>
                <a:latin typeface="Helvetica Neue"/>
                <a:ea typeface="Helvetica Neue"/>
                <a:cs typeface="Helvetica Neue"/>
              </a:rPr>
              <a:t>• Sem gasto em anúncios amplos</a:t>
            </a:r>
          </a:p>
          <a:p xmlns:a="http://schemas.openxmlformats.org/drawingml/2006/main">
            <a:pPr algn="l">
              <a:defRPr sz="1500" b="0">
                <a:solidFill>
                  <a:srgbClr val="373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7312B"/>
                </a:solidFill>
                <a:latin typeface="Helvetica Neue"/>
                <a:ea typeface="Helvetica Neue"/>
                <a:cs typeface="Helvetica Neue"/>
              </a:rPr>
              <a:t>• Só escalar infra ao provar demanda</a:t>
            </a:r>
          </a:p>
          <a:p xmlns:a="http://schemas.openxmlformats.org/drawingml/2006/main">
            <a:pPr algn="l">
              <a:defRPr sz="1500" b="0">
                <a:solidFill>
                  <a:srgbClr val="373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7312B"/>
                </a:solidFill>
                <a:latin typeface="Helvetica Neue"/>
                <a:ea typeface="Helvetica Neue"/>
                <a:cs typeface="Helvetica Neue"/>
              </a:rPr>
              <a:t>• IA com teto de crédito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84B1BC-E9EE-4EC3-8295-5F1347F2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0"/>
            <a:ext cx="242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56D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56D65"/>
                </a:solidFill>
                <a:latin typeface="Helvetica Neue"/>
                <a:ea typeface="Helvetica Neue"/>
                <a:cs typeface="Helvetica Neue"/>
              </a:rPr>
              <a:t>O custo de divulgação é a principal verba — e deve ser rastreável.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648FC2-C867-41EF-A613-7E597F25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389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56D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56D65"/>
                </a:solidFill>
                <a:latin typeface="Helvetica Neue"/>
                <a:ea typeface="Helvetica Neue"/>
                <a:cs typeface="Helvetica Neue"/>
              </a:rPr>
              <a:t>MODLAB  ·  02</a:t>
            </a:r>
          </a:p>
        </p:txBody>
      </p:sp>
    </p:spTree>
    <p:extLst>
      <p:ext uri="{BB962C8B-B14F-4D97-AF65-F5344CB8AC3E}">
        <p14:creationId xmlns:p14="http://schemas.microsoft.com/office/powerpoint/2010/main" val="20639280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939BDC-DE56-4E83-929A-9779F794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4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1411"/>
                </a:solidFill>
                <a:latin typeface="Helvetica Neue"/>
                <a:ea typeface="Helvetica Neue"/>
                <a:cs typeface="Helvetica Neue"/>
              </a:rPr>
              <a:t>Influenciadores devem funcionar como canal de aquisição, não só como alcance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1495E-768E-4B3C-960D-70A0D6AD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3238500" cy="2609850"/>
          </a:xfrm>
          <a:prstGeom xmlns:a="http://schemas.openxmlformats.org/drawingml/2006/main" prst="roundRect">
            <a:avLst>
              <a:gd name="adj" fmla="val 43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8FCD20-B991-4C7E-BFAA-C7166E6D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D2B8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D2B88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593E98-308B-4DE2-AB90-3E992D14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56D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756D65"/>
                </a:solidFill>
                <a:latin typeface="Helvetica Neue"/>
                <a:ea typeface="Helvetica Neue"/>
                <a:cs typeface="Helvetica Neue"/>
              </a:rPr>
              <a:t>criadores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7FCF0D-E281-4155-82F0-A11EC552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4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71411"/>
                </a:solidFill>
                <a:latin typeface="Helvetica Neue"/>
                <a:ea typeface="Helvetica Neue"/>
                <a:cs typeface="Helvetica Neue"/>
              </a:rPr>
              <a:t>R$ 900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F11BE7-F77F-491C-97BA-38813D55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480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56D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56D65"/>
                </a:solidFill>
                <a:latin typeface="Helvetica Neue"/>
                <a:ea typeface="Helvetica Neue"/>
                <a:cs typeface="Helvetica Neue"/>
              </a:rPr>
              <a:t>orçamento mensal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E97502-0883-4BDE-9C14-FB9C429E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19250"/>
            <a:ext cx="3238500" cy="2609850"/>
          </a:xfrm>
          <a:prstGeom xmlns:a="http://schemas.openxmlformats.org/drawingml/2006/main" prst="roundRect">
            <a:avLst>
              <a:gd name="adj" fmla="val 43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E4623F-4B04-45BF-9043-D3B6199F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526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D2B8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D2B886"/>
                </a:solidFill>
                <a:latin typeface="Helvetica Neue"/>
                <a:ea typeface="Helvetica Neue"/>
                <a:cs typeface="Helvetica Neue"/>
              </a:rPr>
              <a:t>75 mil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BDBDC6-2EE0-4919-8F73-B6AA9D9A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14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56D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756D65"/>
                </a:solidFill>
                <a:latin typeface="Helvetica Neue"/>
                <a:ea typeface="Helvetica Neue"/>
                <a:cs typeface="Helvetica Neue"/>
              </a:rPr>
              <a:t>visualizações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41E39C-A84D-4196-8987-0D2928D5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432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4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71411"/>
                </a:solidFill>
                <a:latin typeface="Helvetica Neue"/>
                <a:ea typeface="Helvetica Neue"/>
                <a:cs typeface="Helvetica Neue"/>
              </a:rPr>
              <a:t>1.125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155A82-787C-4927-A1DA-F2F1E362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480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56D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56D65"/>
                </a:solidFill>
                <a:latin typeface="Helvetica Neue"/>
                <a:ea typeface="Helvetica Neue"/>
                <a:cs typeface="Helvetica Neue"/>
              </a:rPr>
              <a:t>cliques previstos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1B8109-2C49-48A0-B6B4-79B46A9C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19250"/>
            <a:ext cx="3238500" cy="2609850"/>
          </a:xfrm>
          <a:prstGeom xmlns:a="http://schemas.openxmlformats.org/drawingml/2006/main" prst="roundRect">
            <a:avLst>
              <a:gd name="adj" fmla="val 43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F7C353-5E03-4259-A455-C43B81A0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526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D2B8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D2B886"/>
                </a:solidFill>
                <a:latin typeface="Helvetica Neue"/>
                <a:ea typeface="Helvetica Neue"/>
                <a:cs typeface="Helvetica Neue"/>
              </a:rPr>
              <a:t>34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EFC6E9-B466-43E8-A319-7A5BB8A2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14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56D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756D65"/>
                </a:solidFill>
                <a:latin typeface="Helvetica Neue"/>
                <a:ea typeface="Helvetica Neue"/>
                <a:cs typeface="Helvetica Neue"/>
              </a:rPr>
              <a:t>compras previstas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35C86A-0A93-4CD7-B620-8566EE2D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432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4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71411"/>
                </a:solidFill>
                <a:latin typeface="Helvetica Neue"/>
                <a:ea typeface="Helvetica Neue"/>
                <a:cs typeface="Helvetica Neue"/>
              </a:rPr>
              <a:t>R$ 945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C18506-54ED-449C-9008-68236030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480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56D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56D65"/>
                </a:solidFill>
                <a:latin typeface="Helvetica Neue"/>
                <a:ea typeface="Helvetica Neue"/>
                <a:cs typeface="Helvetica Neue"/>
              </a:rPr>
              <a:t>comissão estimada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A3D58A-57F7-4AFE-9670-942E0DA3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73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37312B"/>
                </a:solidFill>
                <a:latin typeface="Helvetica Neue"/>
                <a:ea typeface="Helvetica Neue"/>
                <a:cs typeface="Helvetica Neue"/>
              </a:rPr>
              <a:t>Cada criador recebe um cupom e um link único. A continuidade depende de cliques, compras e cadastro de novos fornecedores.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4EF794-0150-4D3B-A60E-00413BB3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389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56D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56D65"/>
                </a:solidFill>
                <a:latin typeface="Helvetica Neue"/>
                <a:ea typeface="Helvetica Neue"/>
                <a:cs typeface="Helvetica Neue"/>
              </a:rPr>
              <a:t>MODLAB  ·  03</a:t>
            </a:r>
          </a:p>
        </p:txBody>
      </p:sp>
    </p:spTree>
    <p:extLst>
      <p:ext uri="{BB962C8B-B14F-4D97-AF65-F5344CB8AC3E}">
        <p14:creationId xmlns:p14="http://schemas.microsoft.com/office/powerpoint/2010/main" val="2551026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043AC4-CBD0-4D79-9D4B-211332BC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14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71411"/>
                </a:solidFill>
                <a:latin typeface="Helvetica Neue"/>
                <a:ea typeface="Helvetica Neue"/>
                <a:cs typeface="Helvetica Neue"/>
              </a:rPr>
              <a:t>O cenário base chega a R$ 216 mil no ano com três fontes de receita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552450" y="1381125"/>
          <a:ext xmlns:a="http://schemas.openxmlformats.org/drawingml/2006/main" cx="5857875" cy="438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fcf3c60c1ad4feb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01E7B4-F522-4DE4-AD28-FE00C278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381125"/>
            <a:ext cx="44386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E8E0"/>
          </a:solidFill>
          <a:ln xmlns:a="http://schemas.openxmlformats.org/drawingml/2006/main" w="0">
            <a:solidFill>
              <a:srgbClr val="EEE8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C23E0C-6298-47CC-8CBB-C6B14729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724025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4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1411"/>
                </a:solidFill>
                <a:latin typeface="Helvetica Neue"/>
                <a:ea typeface="Helvetica Neue"/>
                <a:cs typeface="Helvetica Neue"/>
              </a:rPr>
              <a:t>R$ 18 mil/mês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F57580-BD00-4881-9A39-93557360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32410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56D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56D65"/>
                </a:solidFill>
                <a:latin typeface="Helvetica Neue"/>
                <a:ea typeface="Helvetica Neue"/>
                <a:cs typeface="Helvetica Neue"/>
              </a:rPr>
              <a:t>meta de receita no cenário base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3A94FF-79C9-4B4A-A0A9-71C420E7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476625"/>
            <a:ext cx="44386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3E7"/>
          </a:solidFill>
          <a:ln xmlns:a="http://schemas.openxmlformats.org/drawingml/2006/main" w="0">
            <a:solidFill>
              <a:srgbClr val="E7F3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743EBB-F4F8-481D-9624-DF272117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857625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4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1411"/>
                </a:solidFill>
                <a:latin typeface="Helvetica Neue"/>
                <a:ea typeface="Helvetica Neue"/>
                <a:cs typeface="Helvetica Neue"/>
              </a:rPr>
              <a:t>R$ 84,8 mil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5DEDF3-FDFC-4A38-8A6D-F3670CC3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4577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3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37312B"/>
                </a:solidFill>
                <a:latin typeface="Helvetica Neue"/>
                <a:ea typeface="Helvetica Neue"/>
                <a:cs typeface="Helvetica Neue"/>
              </a:rPr>
              <a:t>lucro distribuível anual após custos, impostos provisionados e reserva de caixa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9AE963-4D89-45CA-AD28-B20ADBFE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389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56D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56D65"/>
                </a:solidFill>
                <a:latin typeface="Helvetica Neue"/>
                <a:ea typeface="Helvetica Neue"/>
                <a:cs typeface="Helvetica Neue"/>
              </a:rPr>
              <a:t>MODLAB  ·  04</a:t>
            </a:r>
          </a:p>
        </p:txBody>
      </p:sp>
    </p:spTree>
    <p:extLst>
      <p:ext uri="{BB962C8B-B14F-4D97-AF65-F5344CB8AC3E}">
        <p14:creationId xmlns:p14="http://schemas.microsoft.com/office/powerpoint/2010/main" val="2587870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3731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6D578F-85DC-4219-9BC9-D405761C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meta do primeiro ano é validar recorrência antes de retirar lucro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E21C52-473F-4C1B-BE8D-AC39DCB5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D2B8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D2B886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B6ADDE-D40E-464B-99A4-32DCFF09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860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Lançar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D215A3-0DB2-45D4-91FD-B8BC900E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2209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D0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D9D0C7"/>
                </a:solidFill>
                <a:latin typeface="Helvetica Neue"/>
                <a:ea typeface="Helvetica Neue"/>
                <a:cs typeface="Helvetica Neue"/>
              </a:rPr>
              <a:t>Domínio, Supabase Free e chat de IA com limite de uso.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3CC41-9240-4F24-BBC6-8A956D75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0025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D2B8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D2B886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E1614F-1C83-486A-8AD6-9AC3E48F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860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Medir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F5D48-3756-478A-BEBF-000E3F8E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38500"/>
            <a:ext cx="2209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D0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D9D0C7"/>
                </a:solidFill>
                <a:latin typeface="Helvetica Neue"/>
                <a:ea typeface="Helvetica Neue"/>
                <a:cs typeface="Helvetica Neue"/>
              </a:rPr>
              <a:t>Links, cupons e cadastro por criador.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0BF208-65E4-418E-9143-9FB057ED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0025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D2B8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D2B886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0CE90F-A7A0-45D1-8C6F-B3269F92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860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Converter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7C2C12-F55F-4B76-A760-1624A005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38500"/>
            <a:ext cx="2209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D0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D9D0C7"/>
                </a:solidFill>
                <a:latin typeface="Helvetica Neue"/>
                <a:ea typeface="Helvetica Neue"/>
                <a:cs typeface="Helvetica Neue"/>
              </a:rPr>
              <a:t>Fornecedores destacados e Premium.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34C5EB-6F9A-428B-9994-CD4B7B93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0025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D2B8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D2B886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346713-A07F-4AFB-AE07-F8D7FA1E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860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Escalar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93EBA1-3ACF-47D7-9A31-77DAB564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38500"/>
            <a:ext cx="2209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D0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D9D0C7"/>
                </a:solidFill>
                <a:latin typeface="Helvetica Neue"/>
                <a:ea typeface="Helvetica Neue"/>
                <a:cs typeface="Helvetica Neue"/>
              </a:rPr>
              <a:t>Só migrar planos pagos quando o uso exigir.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9067F6-9CA9-4F44-8FBA-2346FDE5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81625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2E9D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2E9DF"/>
                </a:solidFill>
                <a:latin typeface="Helvetica Neue"/>
                <a:ea typeface="Helvetica Neue"/>
                <a:cs typeface="Helvetica Neue"/>
              </a:rPr>
              <a:t>Divisão de sócios: primeiro reservar 25% do lucro. Depois, dividir o saldo conforme o contrato social e a contabilidade.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C96E00-F300-4F1F-8CD8-E5FE61A8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389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56D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56D65"/>
                </a:solidFill>
                <a:latin typeface="Helvetica Neue"/>
                <a:ea typeface="Helvetica Neue"/>
                <a:cs typeface="Helvetica Neue"/>
              </a:rPr>
              <a:t>MODLAB  ·  05</a:t>
            </a:r>
          </a:p>
        </p:txBody>
      </p:sp>
    </p:spTree>
    <p:extLst>
      <p:ext uri="{BB962C8B-B14F-4D97-AF65-F5344CB8AC3E}">
        <p14:creationId xmlns:p14="http://schemas.microsoft.com/office/powerpoint/2010/main" val="1595404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2026-08-18T01:37:00.4350000Z</dcterms:created>
  <dcterms:modified xsi:type="dcterms:W3CDTF">2026-08-18T01:37:00.4350000Z</dcterms:modified>
</coreProperties>
</file>